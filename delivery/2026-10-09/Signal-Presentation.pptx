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1b5d0f37884037" /><Relationship Type="http://schemas.openxmlformats.org/officeDocument/2006/relationships/extended-properties" Target="/docProps/app.xml" Id="Rb761a91eafdb4349" /><Relationship Type="http://schemas.openxmlformats.org/officeDocument/2006/relationships/officeDocument" Target="/ppt/presentation.xml" Id="R554be207775744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f4d2e2d727432d"/>
  </p:sldMasterIdLst>
  <p:notesMasterIdLst>
    <p:notesMasterId xmlns:r="http://schemas.openxmlformats.org/officeDocument/2006/relationships" r:id="R4a3b080baf4a4b6d"/>
  </p:notesMasterIdLst>
  <p:sldIdLst>
    <p:sldId xmlns:r="http://schemas.openxmlformats.org/officeDocument/2006/relationships" id="256" r:id="Rf70ba39ce6694adf"/>
    <p:sldId xmlns:r="http://schemas.openxmlformats.org/officeDocument/2006/relationships" id="257" r:id="Rb822b29b6a994467"/>
    <p:sldId xmlns:r="http://schemas.openxmlformats.org/officeDocument/2006/relationships" id="258" r:id="R3aa233ec4b51403e"/>
    <p:sldId xmlns:r="http://schemas.openxmlformats.org/officeDocument/2006/relationships" id="259" r:id="Rcf417a1439374fa5"/>
    <p:sldId xmlns:r="http://schemas.openxmlformats.org/officeDocument/2006/relationships" id="260" r:id="R6d8034578728484f"/>
    <p:sldId xmlns:r="http://schemas.openxmlformats.org/officeDocument/2006/relationships" id="261" r:id="R2d26d5b411644be8"/>
    <p:sldId xmlns:r="http://schemas.openxmlformats.org/officeDocument/2006/relationships" id="262" r:id="R336ce43940374a1b"/>
    <p:sldId xmlns:r="http://schemas.openxmlformats.org/officeDocument/2006/relationships" id="263" r:id="R966b5939efb04278"/>
    <p:sldId xmlns:r="http://schemas.openxmlformats.org/officeDocument/2006/relationships" id="264" r:id="R0e65dc1ba6f64639"/>
    <p:sldId xmlns:r="http://schemas.openxmlformats.org/officeDocument/2006/relationships" id="265" r:id="Rb537850531ba489c"/>
    <p:sldId xmlns:r="http://schemas.openxmlformats.org/officeDocument/2006/relationships" id="266" r:id="R48d64a35cddb4769"/>
    <p:sldId xmlns:r="http://schemas.openxmlformats.org/officeDocument/2006/relationships" id="267" r:id="R79b1453922414606"/>
    <p:sldId xmlns:r="http://schemas.openxmlformats.org/officeDocument/2006/relationships" id="268" r:id="Ra282875956d745f8"/>
    <p:sldId xmlns:r="http://schemas.openxmlformats.org/officeDocument/2006/relationships" id="269" r:id="Rd137e7836b1946a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ccc54a21f44125" /><Relationship Type="http://schemas.openxmlformats.org/officeDocument/2006/relationships/slideMaster" Target="/ppt/slideMasters/slideMaster1.xml" Id="Rccf4d2e2d727432d" /><Relationship Type="http://schemas.openxmlformats.org/officeDocument/2006/relationships/notesMaster" Target="/ppt/notesMasters/notesMaster1.xml" Id="R4a3b080baf4a4b6d" /><Relationship Type="http://schemas.openxmlformats.org/officeDocument/2006/relationships/presProps" Target="/ppt/presProps.xml" Id="R1de35b7fa946432b" /><Relationship Type="http://schemas.openxmlformats.org/officeDocument/2006/relationships/viewProps" Target="/ppt/viewProps.xml" Id="R87fea062eb434285" /><Relationship Type="http://schemas.openxmlformats.org/officeDocument/2006/relationships/tableStyles" Target="/ppt/tableStyles.xml" Id="R5fef4457e52e4eaa" /><Relationship Type="http://schemas.openxmlformats.org/officeDocument/2006/relationships/slide" Target="/ppt/slides/slide1.xml" Id="Rf70ba39ce6694adf" /><Relationship Type="http://schemas.openxmlformats.org/officeDocument/2006/relationships/slide" Target="/ppt/slides/slide2.xml" Id="Rb822b29b6a994467" /><Relationship Type="http://schemas.openxmlformats.org/officeDocument/2006/relationships/slide" Target="/ppt/slides/slide3.xml" Id="R3aa233ec4b51403e" /><Relationship Type="http://schemas.openxmlformats.org/officeDocument/2006/relationships/slide" Target="/ppt/slides/slide4.xml" Id="Rcf417a1439374fa5" /><Relationship Type="http://schemas.openxmlformats.org/officeDocument/2006/relationships/slide" Target="/ppt/slides/slide5.xml" Id="R6d8034578728484f" /><Relationship Type="http://schemas.openxmlformats.org/officeDocument/2006/relationships/slide" Target="/ppt/slides/slide6.xml" Id="R2d26d5b411644be8" /><Relationship Type="http://schemas.openxmlformats.org/officeDocument/2006/relationships/slide" Target="/ppt/slides/slide7.xml" Id="R336ce43940374a1b" /><Relationship Type="http://schemas.openxmlformats.org/officeDocument/2006/relationships/slide" Target="/ppt/slides/slide8.xml" Id="R966b5939efb04278" /><Relationship Type="http://schemas.openxmlformats.org/officeDocument/2006/relationships/slide" Target="/ppt/slides/slide9.xml" Id="R0e65dc1ba6f64639" /><Relationship Type="http://schemas.openxmlformats.org/officeDocument/2006/relationships/slide" Target="/ppt/slides/slide10.xml" Id="Rb537850531ba489c" /><Relationship Type="http://schemas.openxmlformats.org/officeDocument/2006/relationships/slide" Target="/ppt/slides/slide11.xml" Id="R48d64a35cddb4769" /><Relationship Type="http://schemas.openxmlformats.org/officeDocument/2006/relationships/slide" Target="/ppt/slides/slide12.xml" Id="R79b1453922414606" /><Relationship Type="http://schemas.openxmlformats.org/officeDocument/2006/relationships/slide" Target="/ppt/slides/slide13.xml" Id="Ra282875956d745f8" /><Relationship Type="http://schemas.openxmlformats.org/officeDocument/2006/relationships/slide" Target="/ppt/slides/slide14.xml" Id="Rd137e7836b1946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80a129295745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c8c320f23e46f9" /><Relationship Type="http://schemas.openxmlformats.org/officeDocument/2006/relationships/notesMaster" Target="/ppt/notesMasters/notesMaster1.xml" Id="R248d9378482f41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016d07125f48ef" /><Relationship Type="http://schemas.openxmlformats.org/officeDocument/2006/relationships/notesMaster" Target="/ppt/notesMasters/notesMaster1.xml" Id="R739091a1404940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147d2aa7974b71" /><Relationship Type="http://schemas.openxmlformats.org/officeDocument/2006/relationships/notesMaster" Target="/ppt/notesMasters/notesMaster1.xml" Id="Ra3f2ca47582440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e0b4b5f52c4074" /><Relationship Type="http://schemas.openxmlformats.org/officeDocument/2006/relationships/notesMaster" Target="/ppt/notesMasters/notesMaster1.xml" Id="R5f3382b6e0264a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feff33038c4664" /><Relationship Type="http://schemas.openxmlformats.org/officeDocument/2006/relationships/notesMaster" Target="/ppt/notesMasters/notesMaster1.xml" Id="R3102f817c59640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83621ed3f24326" /><Relationship Type="http://schemas.openxmlformats.org/officeDocument/2006/relationships/notesMaster" Target="/ppt/notesMasters/notesMaster1.xml" Id="R764b91e6b6694c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98baa45c3e400e" /><Relationship Type="http://schemas.openxmlformats.org/officeDocument/2006/relationships/notesMaster" Target="/ppt/notesMasters/notesMaster1.xml" Id="Recfe8d55a85b4b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3a116124a849dd" /><Relationship Type="http://schemas.openxmlformats.org/officeDocument/2006/relationships/notesMaster" Target="/ppt/notesMasters/notesMaster1.xml" Id="R6faca1618d4e40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98c0179d4542c1" /><Relationship Type="http://schemas.openxmlformats.org/officeDocument/2006/relationships/notesMaster" Target="/ppt/notesMasters/notesMaster1.xml" Id="Rc28be51036b348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bbf3e763144cee" /><Relationship Type="http://schemas.openxmlformats.org/officeDocument/2006/relationships/notesMaster" Target="/ppt/notesMasters/notesMaster1.xml" Id="R314c429d943c40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b4e8c9de9d4918" /><Relationship Type="http://schemas.openxmlformats.org/officeDocument/2006/relationships/notesMaster" Target="/ppt/notesMasters/notesMaster1.xml" Id="Rd24433775b7a48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fcee2dee6a4efc" /><Relationship Type="http://schemas.openxmlformats.org/officeDocument/2006/relationships/notesMaster" Target="/ppt/notesMasters/notesMaster1.xml" Id="R6504c1a2ccb040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e7cb1e195d4c98" /><Relationship Type="http://schemas.openxmlformats.org/officeDocument/2006/relationships/notesMaster" Target="/ppt/notesMasters/notesMaster1.xml" Id="Rc4c90d03725843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21adb70e6943b3" /><Relationship Type="http://schemas.openxmlformats.org/officeDocument/2006/relationships/notesMaster" Target="/ppt/notesMasters/notesMaster1.xml" Id="R8d4e68a147504e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Цифровая платформа-агрегатор ИТ-вакансий с профилем достижений участника ФСП. Signal, команда Best Match.</a:t>
            </a:r>
          </a:p>
          <a:p xmlns:a="http://schemas.openxmlformats.org/drawingml/2006/main">
            <a:r>
              <a:t>Источники: C:/Users/Misha/Documents/ChatGPT/LCT/signal-ui-refinement-workspace-20261008/docs/delivery-2026-10-09.md</a:t>
            </a:r>
          </a:p>
          <a:p xmlns:a="http://schemas.openxmlformats.org/drawingml/2006/main">
            <a:r>
              <a:t>C:/Users/Misha/Documents/ChatGPT/LCT/signal-ui-refinement-workspace-20261008/docs/technical-description-current-20261008.md</a:t>
            </a:r>
          </a:p>
          <a:p xmlns:a="http://schemas.openxmlformats.org/drawingml/2006/main">
            <a:r>
              <a:t>C:/Users/Misha/Documents/ChatGPT/LCT/outputs/signal-employer-workspace-control-2026-10-08/independent-acceptance.md</a:t>
            </a:r>
          </a:p>
          <a:p xmlns:a="http://schemas.openxmlformats.org/drawingml/2006/main">
            <a:r>
              <a:t>Логотипы и фон: официальный шаблон ФСП, слайд 7. Реальный реестр ФСП пока не подключён.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Суть решения и команда.</a:t>
            </a:r>
          </a:p>
          <a:p xmlns:a="http://schemas.openxmlformats.org/drawingml/2006/main">
            <a:r>
              <a:t>Источники: C:/Users/Misha/Documents/ChatGPT/LCT/signal-ui-refinement-workspace-20261008/docs/delivery-2026-10-09.md</a:t>
            </a:r>
          </a:p>
          <a:p xmlns:a="http://schemas.openxmlformats.org/drawingml/2006/main">
            <a:r>
              <a:t>C:/Users/Misha/Documents/ChatGPT/LCT/signal-ui-refinement-workspace-20261008/docs/technical-description-current-20261008.md</a:t>
            </a:r>
          </a:p>
          <a:p xmlns:a="http://schemas.openxmlformats.org/drawingml/2006/main">
            <a:r>
              <a:t>C:/Users/Misha/Documents/ChatGPT/LCT/outputs/signal-employer-workspace-control-2026-10-08/independent-acceptance.md</a:t>
            </a:r>
          </a:p>
          <a:p xmlns:a="http://schemas.openxmlformats.org/drawingml/2006/main">
            <a:r>
              <a:t>Оригинальная композиция обязательного слайда 8 сохранена. Фото команды не предоставлены.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Два участника команды Best Match.</a:t>
            </a:r>
            <a:endParaRPr/>
          </a:p>
          <a:p xmlns:a="http://schemas.openxmlformats.org/drawingml/2006/main">
            <a:r>
              <a:t>Источники: C:/Users/Misha/Documents/ChatGPT/LCT/signal-ui-refinement-workspace-20261008/docs/delivery-2026-10-09.md</a:t>
            </a:r>
            <a:endParaRPr/>
          </a:p>
          <a:p xmlns:a="http://schemas.openxmlformats.org/drawingml/2006/main">
            <a:r>
              <a:t>C:/Users/Misha/Documents/ChatGPT/LCT/signal-ui-refinement-workspace-20261008/docs/technical-description-current-20261008.md</a:t>
            </a:r>
            <a:endParaRPr/>
          </a:p>
          <a:p xmlns:a="http://schemas.openxmlformats.org/drawingml/2006/main">
            <a:r>
              <a:t>C:/Users/Misha/Documents/ChatGPT/LCT/outputs/signal-employer-workspace-control-2026-10-08/independent-acceptance.md</a:t>
            </a:r>
            <a:endParaRPr/>
          </a:p>
          <a:p xmlns:a="http://schemas.openxmlformats.org/drawingml/2006/main">
            <a:r>
              <a:t>Имена, роли, контакты и город предоставлены командой. Неиспользуемые поля телефонов и места работы удалены. Шаблонные фотографии заменены текстом, без вымышленных изображений людей.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Путь: техническое задание, прототип, независимая проверка.</a:t>
            </a:r>
            <a:endParaRPr/>
          </a:p>
          <a:p xmlns:a="http://schemas.openxmlformats.org/drawingml/2006/main">
            <a:r>
              <a:t>Источники: C:/Users/Misha/Documents/ChatGPT/LCT/signal-ui-refinement-workspace-20261008/docs/delivery-2026-10-09.md</a:t>
            </a:r>
            <a:endParaRPr/>
          </a:p>
          <a:p xmlns:a="http://schemas.openxmlformats.org/drawingml/2006/main">
            <a:r>
              <a:t>C:/Users/Misha/Documents/ChatGPT/LCT/signal-ui-refinement-workspace-20261008/docs/technical-description-current-20261008.md</a:t>
            </a:r>
            <a:endParaRPr/>
          </a:p>
          <a:p xmlns:a="http://schemas.openxmlformats.org/drawingml/2006/main">
            <a:r>
              <a:t>C:/Users/Misha/Documents/ChatGPT/LCT/outputs/signal-employer-workspace-control-2026-10-08/independent-acceptance.md</a:t>
            </a:r>
            <a:endParaRPr/>
          </a:p>
          <a:p xmlns:a="http://schemas.openxmlformats.org/drawingml/2006/main">
            <a:r>
              <a:t>История прошлых хакатонов, работы и образования команды не заявлена.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Техническая и маркетинговая суть решения.</a:t>
            </a:r>
          </a:p>
          <a:p xmlns:a="http://schemas.openxmlformats.org/drawingml/2006/main">
            <a:r>
              <a:t>Источники: C:/Users/Misha/Documents/ChatGPT/LCT/signal-ui-refinement-workspace-20261008/docs/delivery-2026-10-09.md</a:t>
            </a:r>
          </a:p>
          <a:p xmlns:a="http://schemas.openxmlformats.org/drawingml/2006/main">
            <a:r>
              <a:t>C:/Users/Misha/Documents/ChatGPT/LCT/signal-ui-refinement-workspace-20261008/docs/technical-description-current-20261008.md</a:t>
            </a:r>
          </a:p>
          <a:p xmlns:a="http://schemas.openxmlformats.org/drawingml/2006/main">
            <a:r>
              <a:t>C:/Users/Misha/Documents/ChatGPT/LCT/outputs/signal-employer-workspace-control-2026-10-08/independent-acceptance.md</a:t>
            </a:r>
          </a:p>
          <a:p xmlns:a="http://schemas.openxmlformats.org/drawingml/2006/main">
            <a:r>
              <a:t>Сокращение времени отбора является гипотезой для пилота, а не измеренным результатом.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Шесть независимых модулей и общая категория по матрице.</a:t>
            </a:r>
          </a:p>
          <a:p xmlns:a="http://schemas.openxmlformats.org/drawingml/2006/main">
            <a:r>
              <a:t>Источники: C:/Users/Misha/Documents/ChatGPT/LCT/signal-ui-refinement-workspace-20261008/docs/delivery-2026-10-09.md</a:t>
            </a:r>
          </a:p>
          <a:p xmlns:a="http://schemas.openxmlformats.org/drawingml/2006/main">
            <a:r>
              <a:t>C:/Users/Misha/Documents/ChatGPT/LCT/signal-ui-refinement-workspace-20261008/docs/technical-description-current-20261008.md</a:t>
            </a:r>
          </a:p>
          <a:p xmlns:a="http://schemas.openxmlformats.org/drawingml/2006/main">
            <a:r>
              <a:t>C:/Users/Misha/Documents/ChatGPT/LCT/outputs/signal-employer-workspace-control-2026-10-08/independent-acceptance.md</a:t>
            </a:r>
          </a:p>
          <a:p xmlns:a="http://schemas.openxmlformats.org/drawingml/2006/main">
            <a:r>
              <a:t>Банк signal-skills-2026-10-v6 и signal-category-competency-matrix-v2. Задания и правила сохраняются в snapshot попытки.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ПАСПОРТ НАВЫКОВ</a:t>
            </a:r>
          </a:p>
          <a:p xmlns:a="http://schemas.openxmlformats.org/drawingml/2006/main">
            <a:r>
              <a:t>Источники: C:/Users/Misha/Documents/ChatGPT/LCT/signal-ui-refinement-workspace-20261008/docs/delivery-2026-10-09.md</a:t>
            </a:r>
          </a:p>
          <a:p xmlns:a="http://schemas.openxmlformats.org/drawingml/2006/main">
            <a:r>
              <a:t>C:/Users/Misha/Documents/ChatGPT/LCT/signal-ui-refinement-workspace-20261008/docs/technical-description-current-20261008.md</a:t>
            </a:r>
          </a:p>
          <a:p xmlns:a="http://schemas.openxmlformats.org/drawingml/2006/main">
            <a:r>
              <a:t>C:/Users/Misha/Documents/ChatGPT/LCT/outputs/signal-employer-workspace-control-2026-10-08/independent-acceptance.md</a:t>
            </a:r>
          </a:p>
          <a:p xmlns:a="http://schemas.openxmlformats.org/drawingml/2006/main">
            <a:r>
              <a:t>Снимок актуального интерфейса Signal. Данные синтетические. C:/Users/Misha/Documents/ChatGPT/LCT/outputs/signal-delivery-20261009/frames/03-passport.jpg</a:t>
            </a:r>
          </a:p>
          <a:p xmlns:a="http://schemas.openxmlformats.org/drawingml/2006/main">
            <a:r>
              <a:t>Кадрирование сохраняет исходный файл. Число соответствия на экране относится к демонстрационному запросу и не является измерением точности найма.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ОБРАТНЫЙ ПОДБОР</a:t>
            </a:r>
          </a:p>
          <a:p xmlns:a="http://schemas.openxmlformats.org/drawingml/2006/main">
            <a:r>
              <a:t>Источники: C:/Users/Misha/Documents/ChatGPT/LCT/signal-ui-refinement-workspace-20261008/docs/delivery-2026-10-09.md</a:t>
            </a:r>
          </a:p>
          <a:p xmlns:a="http://schemas.openxmlformats.org/drawingml/2006/main">
            <a:r>
              <a:t>C:/Users/Misha/Documents/ChatGPT/LCT/signal-ui-refinement-workspace-20261008/docs/technical-description-current-20261008.md</a:t>
            </a:r>
          </a:p>
          <a:p xmlns:a="http://schemas.openxmlformats.org/drawingml/2006/main">
            <a:r>
              <a:t>C:/Users/Misha/Documents/ChatGPT/LCT/outputs/signal-employer-workspace-control-2026-10-08/independent-acceptance.md</a:t>
            </a:r>
          </a:p>
          <a:p xmlns:a="http://schemas.openxmlformats.org/drawingml/2006/main">
            <a:r>
              <a:t>Снимок актуального интерфейса Signal. Данные синтетические. C:/Users/Misha/Documents/ChatGPT/LCT/outputs/signal-delivery-20261009/frames/05-selection.jpg</a:t>
            </a:r>
          </a:p>
          <a:p xmlns:a="http://schemas.openxmlformats.org/drawingml/2006/main">
            <a:r>
              <a:t>Кадрирование сохраняет исходный файл. Число соответствия на экране относится к демонстрационному запросу и не является измерением точности найма.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СРАВНЕНИЕ ТОЧНЫХ CV</a:t>
            </a:r>
          </a:p>
          <a:p xmlns:a="http://schemas.openxmlformats.org/drawingml/2006/main">
            <a:r>
              <a:t>Источники: C:/Users/Misha/Documents/ChatGPT/LCT/signal-ui-refinement-workspace-20261008/docs/delivery-2026-10-09.md</a:t>
            </a:r>
          </a:p>
          <a:p xmlns:a="http://schemas.openxmlformats.org/drawingml/2006/main">
            <a:r>
              <a:t>C:/Users/Misha/Documents/ChatGPT/LCT/signal-ui-refinement-workspace-20261008/docs/technical-description-current-20261008.md</a:t>
            </a:r>
          </a:p>
          <a:p xmlns:a="http://schemas.openxmlformats.org/drawingml/2006/main">
            <a:r>
              <a:t>C:/Users/Misha/Documents/ChatGPT/LCT/outputs/signal-employer-workspace-control-2026-10-08/independent-acceptance.md</a:t>
            </a:r>
          </a:p>
          <a:p xmlns:a="http://schemas.openxmlformats.org/drawingml/2006/main">
            <a:r>
              <a:t>Снимок актуального интерфейса Signal. Данные синтетические. C:/Users/Misha/Documents/ChatGPT/LCT/outputs/signal-delivery-20261009/frames/05-comparison.jpg</a:t>
            </a:r>
          </a:p>
          <a:p xmlns:a="http://schemas.openxmlformats.org/drawingml/2006/main">
            <a:r>
              <a:t>Кадрирование сохраняет исходный файл. Число соответствия на экране относится к демонстрационному запросу и не является измерением точности найма.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Независимые согласия и отзыв доступа.</a:t>
            </a:r>
          </a:p>
          <a:p xmlns:a="http://schemas.openxmlformats.org/drawingml/2006/main">
            <a:r>
              <a:t>Источники: C:/Users/Misha/Documents/ChatGPT/LCT/signal-ui-refinement-workspace-20261008/docs/delivery-2026-10-09.md</a:t>
            </a:r>
          </a:p>
          <a:p xmlns:a="http://schemas.openxmlformats.org/drawingml/2006/main">
            <a:r>
              <a:t>C:/Users/Misha/Documents/ChatGPT/LCT/signal-ui-refinement-workspace-20261008/docs/technical-description-current-20261008.md</a:t>
            </a:r>
          </a:p>
          <a:p xmlns:a="http://schemas.openxmlformats.org/drawingml/2006/main">
            <a:r>
              <a:t>C:/Users/Misha/Documents/ChatGPT/LCT/outputs/signal-employer-workspace-control-2026-10-08/independent-acceptance.md</a:t>
            </a:r>
          </a:p>
          <a:p xmlns:a="http://schemas.openxmlformats.org/drawingml/2006/main">
            <a:r>
              <a:t>Подбор, каталог, имя и адресное раскрытие контактов проверяются отдельно. Invitation/application purpose привязан к компании и точному резюме.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ВАКАНСИИ И ЗАПРОСЫ</a:t>
            </a:r>
          </a:p>
          <a:p xmlns:a="http://schemas.openxmlformats.org/drawingml/2006/main">
            <a:r>
              <a:t>Источники: C:/Users/Misha/Documents/ChatGPT/LCT/signal-ui-refinement-workspace-20261008/docs/delivery-2026-10-09.md</a:t>
            </a:r>
          </a:p>
          <a:p xmlns:a="http://schemas.openxmlformats.org/drawingml/2006/main">
            <a:r>
              <a:t>C:/Users/Misha/Documents/ChatGPT/LCT/signal-ui-refinement-workspace-20261008/docs/technical-description-current-20261008.md</a:t>
            </a:r>
          </a:p>
          <a:p xmlns:a="http://schemas.openxmlformats.org/drawingml/2006/main">
            <a:r>
              <a:t>C:/Users/Misha/Documents/ChatGPT/LCT/outputs/signal-employer-workspace-control-2026-10-08/independent-acceptance.md</a:t>
            </a:r>
          </a:p>
          <a:p xmlns:a="http://schemas.openxmlformats.org/drawingml/2006/main">
            <a:r>
              <a:t>Снимок актуального интерфейса Signal. Данные синтетические. C:/Users/Misha/Documents/ChatGPT/LCT/outputs/signal-delivery-20261009/frames/04-jobs.jpg</a:t>
            </a:r>
          </a:p>
          <a:p xmlns:a="http://schemas.openxmlformats.org/drawingml/2006/main">
            <a:r>
              <a:t>Кадрирование сохраняет исходный файл. Число соответствия на экране относится к демонстрационному запросу и не является измерением точности найма.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ЗАДАНИЯ КАНДИДАТАМ</a:t>
            </a:r>
          </a:p>
          <a:p xmlns:a="http://schemas.openxmlformats.org/drawingml/2006/main">
            <a:r>
              <a:t>Источники: C:/Users/Misha/Documents/ChatGPT/LCT/signal-ui-refinement-workspace-20261008/docs/delivery-2026-10-09.md</a:t>
            </a:r>
          </a:p>
          <a:p xmlns:a="http://schemas.openxmlformats.org/drawingml/2006/main">
            <a:r>
              <a:t>C:/Users/Misha/Documents/ChatGPT/LCT/signal-ui-refinement-workspace-20261008/docs/technical-description-current-20261008.md</a:t>
            </a:r>
          </a:p>
          <a:p xmlns:a="http://schemas.openxmlformats.org/drawingml/2006/main">
            <a:r>
              <a:t>C:/Users/Misha/Documents/ChatGPT/LCT/outputs/signal-employer-workspace-control-2026-10-08/independent-acceptance.md</a:t>
            </a:r>
          </a:p>
          <a:p xmlns:a="http://schemas.openxmlformats.org/drawingml/2006/main">
            <a:r>
              <a:t>Снимок актуального интерфейса Signal. Данные синтетические. C:/Users/Misha/Documents/ChatGPT/LCT/outputs/signal-delivery-20261009/frames/07-answer.jpg</a:t>
            </a:r>
          </a:p>
          <a:p xmlns:a="http://schemas.openxmlformats.org/drawingml/2006/main">
            <a:r>
              <a:t>Кадрирование сохраняет исходный файл. Число соответствия на экране относится к демонстрационному запросу и не является измерением точности найма.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 и пределы готовности.</a:t>
            </a:r>
          </a:p>
          <a:p xmlns:a="http://schemas.openxmlformats.org/drawingml/2006/main">
            <a:r>
              <a:t>Источники: C:/Users/Misha/Documents/ChatGPT/LCT/signal-ui-refinement-workspace-20261008/docs/delivery-2026-10-09.md</a:t>
            </a:r>
          </a:p>
          <a:p xmlns:a="http://schemas.openxmlformats.org/drawingml/2006/main">
            <a:r>
              <a:t>C:/Users/Misha/Documents/ChatGPT/LCT/signal-ui-refinement-workspace-20261008/docs/technical-description-current-20261008.md</a:t>
            </a:r>
          </a:p>
          <a:p xmlns:a="http://schemas.openxmlformats.org/drawingml/2006/main">
            <a:r>
              <a:t>C:/Users/Misha/Documents/ChatGPT/LCT/outputs/signal-employer-workspace-control-2026-10-08/independent-acceptance.md</a:t>
            </a:r>
          </a:p>
          <a:p xmlns:a="http://schemas.openxmlformats.org/drawingml/2006/main">
            <a:r>
              <a:t>582 автоматических теста относятся к проверке комплекта 9 октября 2026. Независимая приёмка E01–E16 имеет собственный функциональный scope. Историческая latency: matching p95 2004 мс при пороге 1500 мс, explanation 2059 мс при пороге 2000 мс. Новая нагрузка не выполнялась. Реестр ФСП, ATS и внешняя модель не подключены.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Следующий этап развития.</a:t>
            </a:r>
          </a:p>
          <a:p xmlns:a="http://schemas.openxmlformats.org/drawingml/2006/main">
            <a:r>
              <a:t>Источники: C:/Users/Misha/Documents/ChatGPT/LCT/signal-ui-refinement-workspace-20261008/docs/delivery-2026-10-09.md</a:t>
            </a:r>
          </a:p>
          <a:p xmlns:a="http://schemas.openxmlformats.org/drawingml/2006/main">
            <a:r>
              <a:t>C:/Users/Misha/Documents/ChatGPT/LCT/signal-ui-refinement-workspace-20261008/docs/technical-description-current-20261008.md</a:t>
            </a:r>
          </a:p>
          <a:p xmlns:a="http://schemas.openxmlformats.org/drawingml/2006/main">
            <a:r>
              <a:t>C:/Users/Misha/Documents/ChatGPT/LCT/outputs/signal-employer-workspace-control-2026-10-08/independent-acceptance.md</a:t>
            </a:r>
          </a:p>
          <a:p xmlns:a="http://schemas.openxmlformats.org/drawingml/2006/main">
            <a:r>
              <a:t>План пилота, а не результат уже проведённого пользовательского исследования.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c2d7c8c7047bb" /><Relationship Type="http://schemas.openxmlformats.org/officeDocument/2006/relationships/image" Target="/ppt/media/image2.png" Id="Rdf8d979e829c4f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f77eabf744b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e4332cc6a4a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57113d4b943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26c1d787446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ec540b477429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70a0d3781410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0c07f7d3e414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1ff26b3824d9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eeb0f80674d4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f79440f55467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2c5bf43ae84c6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8a2fb176db44d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17732940744ea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c41bea23e4fb7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2672856b84b2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a6ec371be4d4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69f258564409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3426d83e44c8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520d264a747f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32dfc234a4375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3e9e62d6d4e66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1279edb60483b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df8d979e829c4f8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02.10.2026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02.10.2026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02.10.2026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02.10.2026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02.10.2026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02.10.2026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68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E362B9DE-3D34-4EA9-B387-87152E4BD6F0}"/>
              </a:ext>
            </a:extLst>
          </p:cNvPr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ED3AF327-C601-4DF9-ABEA-7FBD5E120C6F}"/>
              </a:ext>
            </a:extLst>
          </p:cNvPr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EAEFE319-1D02-4169-AD77-A3D25750C4FC}"/>
              </a:ext>
            </a:extLst>
          </p:cNvPr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3FB3A737-D9E9-4030-8409-187D4FBD00B0}"/>
              </a:ext>
            </a:extLst>
          </p:cNvPr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02.10.2026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5b18dd129e8477d" /><Relationship Type="http://schemas.openxmlformats.org/officeDocument/2006/relationships/theme" Target="/ppt/slideMasters/theme/theme2.xml" Id="R347bc790c3954f87" /><Relationship Type="http://schemas.openxmlformats.org/officeDocument/2006/relationships/slideLayout" Target="/ppt/slideLayouts/slideLayout1.xml" Id="R73a8465a75644435" /><Relationship Type="http://schemas.openxmlformats.org/officeDocument/2006/relationships/slideLayout" Target="/ppt/slideLayouts/slideLayout2.xml" Id="Ra44d97d9a3d94103" /><Relationship Type="http://schemas.openxmlformats.org/officeDocument/2006/relationships/slideLayout" Target="/ppt/slideLayouts/slideLayout3.xml" Id="Rc3f71a0f6ceb4c86" /><Relationship Type="http://schemas.openxmlformats.org/officeDocument/2006/relationships/slideLayout" Target="/ppt/slideLayouts/slideLayout4.xml" Id="Rf16ea3fb7dbd43f9" /><Relationship Type="http://schemas.openxmlformats.org/officeDocument/2006/relationships/slideLayout" Target="/ppt/slideLayouts/slideLayout5.xml" Id="R81ea1cd1f68b43fc" /><Relationship Type="http://schemas.openxmlformats.org/officeDocument/2006/relationships/slideLayout" Target="/ppt/slideLayouts/slideLayout6.xml" Id="R0aaf845870d5468a" /><Relationship Type="http://schemas.openxmlformats.org/officeDocument/2006/relationships/slideLayout" Target="/ppt/slideLayouts/slideLayout7.xml" Id="R3b2f323f9fbb4ef4" /><Relationship Type="http://schemas.openxmlformats.org/officeDocument/2006/relationships/slideLayout" Target="/ppt/slideLayouts/slideLayout8.xml" Id="R12d87d233f384aa5" /><Relationship Type="http://schemas.openxmlformats.org/officeDocument/2006/relationships/slideLayout" Target="/ppt/slideLayouts/slideLayout9.xml" Id="R83b75122462e44e2" /><Relationship Type="http://schemas.openxmlformats.org/officeDocument/2006/relationships/slideLayout" Target="/ppt/slideLayouts/slideLayout10.xml" Id="R37479cb2741d4ceb" /><Relationship Type="http://schemas.openxmlformats.org/officeDocument/2006/relationships/slideLayout" Target="/ppt/slideLayouts/slideLayout11.xml" Id="R3d261d96bc5d4099" /><Relationship Type="http://schemas.openxmlformats.org/officeDocument/2006/relationships/slideLayout" Target="/ppt/slideLayouts/slideLayout12.xml" Id="R0fce241fda0f4354" /><Relationship Type="http://schemas.openxmlformats.org/officeDocument/2006/relationships/slideLayout" Target="/ppt/slideLayouts/slideLayout13.xml" Id="R148b52018f9041bd" /><Relationship Type="http://schemas.openxmlformats.org/officeDocument/2006/relationships/slideLayout" Target="/ppt/slideLayouts/slideLayout14.xml" Id="R28427e194f4b4535" /><Relationship Type="http://schemas.openxmlformats.org/officeDocument/2006/relationships/slideLayout" Target="/ppt/slideLayouts/slideLayout15.xml" Id="Rfa06b9c833824fb7" /><Relationship Type="http://schemas.openxmlformats.org/officeDocument/2006/relationships/slideLayout" Target="/ppt/slideLayouts/slideLayout16.xml" Id="Re9f6935289924348" /><Relationship Type="http://schemas.openxmlformats.org/officeDocument/2006/relationships/slideLayout" Target="/ppt/slideLayouts/slideLayout17.xml" Id="R223e62045e78478b" /><Relationship Type="http://schemas.openxmlformats.org/officeDocument/2006/relationships/slideLayout" Target="/ppt/slideLayouts/slideLayout18.xml" Id="Rd993596479934a3a" /><Relationship Type="http://schemas.openxmlformats.org/officeDocument/2006/relationships/slideLayout" Target="/ppt/slideLayouts/slideLayout19.xml" Id="R6b19971d2e4c42bb" /><Relationship Type="http://schemas.openxmlformats.org/officeDocument/2006/relationships/slideLayout" Target="/ppt/slideLayouts/slideLayout20.xml" Id="R7b4f0f99496b4093" /><Relationship Type="http://schemas.openxmlformats.org/officeDocument/2006/relationships/slideLayout" Target="/ppt/slideLayouts/slideLayout21.xml" Id="R523c6b6ff5a34edc" /><Relationship Type="http://schemas.openxmlformats.org/officeDocument/2006/relationships/slideLayout" Target="/ppt/slideLayouts/slideLayout22.xml" Id="Rff089b6024974f13" /><Relationship Type="http://schemas.openxmlformats.org/officeDocument/2006/relationships/slideLayout" Target="/ppt/slideLayouts/slideLayout23.xml" Id="Raf8d5004711e4f50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5b18dd129e8477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02.10.2026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a8465a75644435"/>
    <p:sldLayoutId xmlns:r="http://schemas.openxmlformats.org/officeDocument/2006/relationships" id="2147483650" r:id="Ra44d97d9a3d94103"/>
    <p:sldLayoutId xmlns:r="http://schemas.openxmlformats.org/officeDocument/2006/relationships" id="2147483651" r:id="Rc3f71a0f6ceb4c86"/>
    <p:sldLayoutId xmlns:r="http://schemas.openxmlformats.org/officeDocument/2006/relationships" id="2147483652" r:id="Rf16ea3fb7dbd43f9"/>
    <p:sldLayoutId xmlns:r="http://schemas.openxmlformats.org/officeDocument/2006/relationships" id="2147483653" r:id="R81ea1cd1f68b43fc"/>
    <p:sldLayoutId xmlns:r="http://schemas.openxmlformats.org/officeDocument/2006/relationships" id="2147483654" r:id="R0aaf845870d5468a"/>
    <p:sldLayoutId xmlns:r="http://schemas.openxmlformats.org/officeDocument/2006/relationships" id="2147483655" r:id="R3b2f323f9fbb4ef4"/>
    <p:sldLayoutId xmlns:r="http://schemas.openxmlformats.org/officeDocument/2006/relationships" id="2147483656" r:id="R12d87d233f384aa5"/>
    <p:sldLayoutId xmlns:r="http://schemas.openxmlformats.org/officeDocument/2006/relationships" id="2147483657" r:id="R83b75122462e44e2"/>
    <p:sldLayoutId xmlns:r="http://schemas.openxmlformats.org/officeDocument/2006/relationships" id="2147483658" r:id="R37479cb2741d4ceb"/>
    <p:sldLayoutId xmlns:r="http://schemas.openxmlformats.org/officeDocument/2006/relationships" id="2147483659" r:id="R3d261d96bc5d4099"/>
    <p:sldLayoutId xmlns:r="http://schemas.openxmlformats.org/officeDocument/2006/relationships" id="2147483660" r:id="R0fce241fda0f4354"/>
    <p:sldLayoutId xmlns:r="http://schemas.openxmlformats.org/officeDocument/2006/relationships" id="2147483661" r:id="R148b52018f9041bd"/>
    <p:sldLayoutId xmlns:r="http://schemas.openxmlformats.org/officeDocument/2006/relationships" id="2147483662" r:id="R28427e194f4b4535"/>
    <p:sldLayoutId xmlns:r="http://schemas.openxmlformats.org/officeDocument/2006/relationships" id="2147483663" r:id="Rfa06b9c833824fb7"/>
    <p:sldLayoutId xmlns:r="http://schemas.openxmlformats.org/officeDocument/2006/relationships" id="2147483664" r:id="Re9f6935289924348"/>
    <p:sldLayoutId xmlns:r="http://schemas.openxmlformats.org/officeDocument/2006/relationships" id="2147483665" r:id="R223e62045e78478b"/>
    <p:sldLayoutId xmlns:r="http://schemas.openxmlformats.org/officeDocument/2006/relationships" id="2147483666" r:id="Rd993596479934a3a"/>
    <p:sldLayoutId xmlns:r="http://schemas.openxmlformats.org/officeDocument/2006/relationships" id="2147483667" r:id="R6b19971d2e4c42bb"/>
    <p:sldLayoutId xmlns:r="http://schemas.openxmlformats.org/officeDocument/2006/relationships" id="2147483668" r:id="R7b4f0f99496b4093"/>
    <p:sldLayoutId xmlns:r="http://schemas.openxmlformats.org/officeDocument/2006/relationships" id="2147483669" r:id="R523c6b6ff5a34edc"/>
    <p:sldLayoutId xmlns:r="http://schemas.openxmlformats.org/officeDocument/2006/relationships" id="2147483670" r:id="Rff089b6024974f13"/>
    <p:sldLayoutId xmlns:r="http://schemas.openxmlformats.org/officeDocument/2006/relationships" id="2147483671" r:id="Raf8d5004711e4f50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5d002971947f7" /><Relationship Type="http://schemas.openxmlformats.org/officeDocument/2006/relationships/image" Target="/ppt/media/image3.png" Id="Rcdc4d8701c9c4692" /><Relationship Type="http://schemas.openxmlformats.org/officeDocument/2006/relationships/notesSlide" Target="/ppt/notesSlides/notesSlide1.xml" Id="R1e2737c7a2014f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792839ae244dd8" /><Relationship Type="http://schemas.openxmlformats.org/officeDocument/2006/relationships/image" Target="/ppt/media/image4.png" Id="Rcb8820b507ef4ffe" /><Relationship Type="http://schemas.openxmlformats.org/officeDocument/2006/relationships/notesSlide" Target="/ppt/notesSlides/notesSlide2.xml" Id="R9b4111df338e46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4b8b30848e4e07" /><Relationship Type="http://schemas.openxmlformats.org/officeDocument/2006/relationships/image" Target="/ppt/media/image.png" Id="R80e8b0d7da81462e" /><Relationship Type="http://schemas.openxmlformats.org/officeDocument/2006/relationships/notesSlide" Target="/ppt/notesSlides/notesSlide3.xml" Id="R989df319e8e54d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17f4901e4b4269" /><Relationship Type="http://schemas.openxmlformats.org/officeDocument/2006/relationships/image" Target="/ppt/media/image5.png" Id="R2afb33da0df64390" /><Relationship Type="http://schemas.openxmlformats.org/officeDocument/2006/relationships/notesSlide" Target="/ppt/notesSlides/notesSlide4.xml" Id="R60fcbb23f8de40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44f12143ddd4ef6" /><Relationship Type="http://schemas.openxmlformats.org/officeDocument/2006/relationships/image" Target="/ppt/media/image.png" Id="R0cf6447ecdae495e" /><Relationship Type="http://schemas.openxmlformats.org/officeDocument/2006/relationships/notesSlide" Target="/ppt/notesSlides/notesSlide5.xml" Id="R635573053a6749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404d45e400246ef" /><Relationship Type="http://schemas.openxmlformats.org/officeDocument/2006/relationships/image" Target="/ppt/media/image5.png" Id="R2c45dc1bea6a44f4" /><Relationship Type="http://schemas.openxmlformats.org/officeDocument/2006/relationships/notesSlide" Target="/ppt/notesSlides/notesSlide6.xml" Id="R6145ee54456944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2aabdaf302f4e8b" /><Relationship Type="http://schemas.openxmlformats.org/officeDocument/2006/relationships/image" Target="/ppt/media/image.png" Id="Raffd4b807a1a429f" /><Relationship Type="http://schemas.openxmlformats.org/officeDocument/2006/relationships/image" Target="/ppt/media/image.jpeg" Id="Rbaba558491af4014" /><Relationship Type="http://schemas.openxmlformats.org/officeDocument/2006/relationships/notesSlide" Target="/ppt/notesSlides/notesSlide7.xml" Id="Rfeb7de201e9245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1bf34916c974542" /><Relationship Type="http://schemas.openxmlformats.org/officeDocument/2006/relationships/image" Target="/ppt/media/image.png" Id="R2de4c1a9f5f04c81" /><Relationship Type="http://schemas.openxmlformats.org/officeDocument/2006/relationships/image" Target="/ppt/media/image2.jpeg" Id="Rbfd8058d26d54231" /><Relationship Type="http://schemas.openxmlformats.org/officeDocument/2006/relationships/notesSlide" Target="/ppt/notesSlides/notesSlide8.xml" Id="R5cab6e195c9247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7abc55cd81b4ac7" /><Relationship Type="http://schemas.openxmlformats.org/officeDocument/2006/relationships/image" Target="/ppt/media/image.png" Id="R457aac087e45463e" /><Relationship Type="http://schemas.openxmlformats.org/officeDocument/2006/relationships/image" Target="/ppt/media/image3.jpeg" Id="R4affcd71069b432f" /><Relationship Type="http://schemas.openxmlformats.org/officeDocument/2006/relationships/notesSlide" Target="/ppt/notesSlides/notesSlide9.xml" Id="R419a733e19554e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b11f75c4cd24829" /><Relationship Type="http://schemas.openxmlformats.org/officeDocument/2006/relationships/image" Target="/ppt/media/image4.png" Id="Rdb31e965f8af40eb" /><Relationship Type="http://schemas.openxmlformats.org/officeDocument/2006/relationships/notesSlide" Target="/ppt/notesSlides/notesSlide10.xml" Id="R53e0fa2c5df548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782b467ba2d4ad0" /><Relationship Type="http://schemas.openxmlformats.org/officeDocument/2006/relationships/image" Target="/ppt/media/image.png" Id="R3161452803494a89" /><Relationship Type="http://schemas.openxmlformats.org/officeDocument/2006/relationships/image" Target="/ppt/media/image4.jpeg" Id="Rb53ac8c02347417a" /><Relationship Type="http://schemas.openxmlformats.org/officeDocument/2006/relationships/notesSlide" Target="/ppt/notesSlides/notesSlide11.xml" Id="R7e708e3b284640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6e75300da6e4779" /><Relationship Type="http://schemas.openxmlformats.org/officeDocument/2006/relationships/image" Target="/ppt/media/image.png" Id="R3497930307784228" /><Relationship Type="http://schemas.openxmlformats.org/officeDocument/2006/relationships/image" Target="/ppt/media/image5.jpeg" Id="R06f3d4574d6e4448" /><Relationship Type="http://schemas.openxmlformats.org/officeDocument/2006/relationships/notesSlide" Target="/ppt/notesSlides/notesSlide12.xml" Id="R284a91fd4faf49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a23b26b898b4350" /><Relationship Type="http://schemas.openxmlformats.org/officeDocument/2006/relationships/image" Target="/ppt/media/image.png" Id="R120b178a3d5e4162" /><Relationship Type="http://schemas.openxmlformats.org/officeDocument/2006/relationships/notesSlide" Target="/ppt/notesSlides/notesSlide13.xml" Id="R85572a33ae3b4c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4652c910a8041fb" /><Relationship Type="http://schemas.openxmlformats.org/officeDocument/2006/relationships/image" Target="/ppt/media/image2.png" Id="Rbb312d0119224491" /><Relationship Type="http://schemas.openxmlformats.org/officeDocument/2006/relationships/notesSlide" Target="/ppt/notesSlides/notesSlide14.xml" Id="Raa6bbd36cfd94c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 sz="2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Signal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Best Match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271463" indent="-3175">
              <a:buNone/>
            </a:pPr>
            <a:r>
              <a:t>Цифровая платформа-агрегатор ИТ-вакансий </a:t>
            </a:r>
            <a:br/>
            <a:r>
              <a:t>с верифицированным профилем достижений </a:t>
            </a:r>
            <a:br/>
            <a:r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F5902F68-C34B-4D2F-A5FD-CACB9E4076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4d8701c9c46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075" y="631174"/>
            <a:ext cx="4905194" cy="6200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b8820b507ef4ff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Уровень каждого навыка имеет свой источник. Общая категория требует матрицы компетенций. Приглашение и доступ привязаны к точному CV.</a:t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Капитан: Сергей Калеев, разработчик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Участники: 2 человека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Команда: Best Match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Город: Казань, Республика Татарстан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Разрабатываем Signal для задачи ФСП на ЛЦТ 2026.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 sz="1997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997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997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 РЕШЕНИИ</a:t>
            </a: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4017B164-D43A-4E0A-A67B-57AC3322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2B6FF08A-AED3-4154-AF01-DF05FE14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D5B8B7C3-29C2-49F1-8475-4926A1DC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 подтверждает навыки. Работодатель задаёт требования и получает подходящие целые резюме с объяснением.</a:t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9" name="signal-wordmark">
            <a:extLst xmlns:a="http://schemas.openxmlformats.org/drawingml/2006/main">
              <a:ext uri="{FF2B5EF4-FFF2-40B4-BE49-F238E27FC236}">
                <a16:creationId xmlns:a16="http://schemas.microsoft.com/office/drawing/2014/main" id="{EC6799E3-0BB0-485E-90B8-56239D02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Signal</a:t>
            </a:r>
          </a:p>
        </p:txBody>
      </p:sp>
      <p:sp>
        <p:nvSpPr>
          <p:cNvPr id="20" name="signal-about-caption">
            <a:extLst xmlns:a="http://schemas.openxmlformats.org/drawingml/2006/main">
              <a:ext uri="{FF2B5EF4-FFF2-40B4-BE49-F238E27FC236}">
                <a16:creationId xmlns:a16="http://schemas.microsoft.com/office/drawing/2014/main" id="{418C48B6-FD7A-4875-8220-340BE2AA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1457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Подбор по подтверждённым навыкам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0e8b0d7da81462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9" y="1522000"/>
            <a:ext cx="5440299" cy="483431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90875"/>
            <a:ext cx="4810125" cy="2381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Маркетолог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kaleevaoksana7@gmail.com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Казань</a:t>
            </a:r>
          </a:p>
        </p:txBody>
      </p:sp>
      <p:sp>
        <p:nvSpPr>
          <p:cNvPr id="5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38375"/>
            <a:ext cx="4810125" cy="590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Оксана Калеева</a:t>
            </a: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43" y="1522000"/>
            <a:ext cx="5440299" cy="483431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</a:t>
            </a: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6750" y="3190875"/>
            <a:ext cx="4810125" cy="2381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Капитан и разработчик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@sergeikaleev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Казань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810125" cy="590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Сергей Калеев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afb33da0df6439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ПУТЬ КОМАНДЫ</a:t>
            </a:r>
          </a:p>
        </p:txBody>
      </p:sp>
      <p:sp>
        <p:nvSpPr>
          <p:cNvPr id="3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7" y="1602273"/>
            <a:ext cx="4425822" cy="9342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Техническое задание ФСП стало основой прототипа Signal. Затем команда прошла независимую проверку кабинета работодателя и исправила замечания.</a:t>
            </a:r>
          </a:p>
        </p:txBody>
      </p:sp>
      <p:sp>
        <p:nvSpPr>
          <p:cNvPr id="3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История проекта</a:t>
            </a:r>
          </a:p>
        </p:txBody>
      </p:sp>
      <p:sp>
        <p:nvSpPr>
          <p:cNvPr id="4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5"/>
            <a:ext cx="7318749" cy="10553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defPPr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Подбор должен учитывать выбранное резюме и действующие согласия. Мы разделили источники оценки, сохранили историю условий и проверили отзыв доступа.</a:t>
            </a:r>
          </a:p>
        </p:txBody>
      </p:sp>
      <p:sp>
        <p:nvSpPr>
          <p:cNvPr id="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Главный вызов</a:t>
            </a:r>
          </a:p>
        </p:txBody>
      </p:sp>
      <p:sp>
        <p:nvSpPr>
          <p:cNvPr id="4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4945565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Задача связывает достижения программиста с требованиями компании. Нам важно показать работодателю, что именно подтверждает профиль кандидата.</a:t>
            </a:r>
          </a:p>
        </p:txBody>
      </p:sp>
      <p:sp>
        <p:nvSpPr>
          <p:cNvPr id="4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Выбор задачи</a:t>
            </a:r>
          </a:p>
        </p:txBody>
      </p:sp>
      <p:sp>
        <p:nvSpPr>
          <p:cNvPr id="5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43CAB550-ED5C-4D9B-87AD-B1D53E05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1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3C1280C7-17D4-43B6-A574-05E45911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B4E5BC84-3250-4CAB-B7A1-C3B79933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cf6447ecdae495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Модульные проверки навыков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Общая категория по матрице выбранного резюме.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Обратный подбор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Обязательные навыки и условия определяют допуск.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Актуальные права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Сервер проверяет точное резюме и согласия при каждом чтении.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Первый пилот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Кандидаты и компании с открытыми ИТ-вакансиями.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Гипотеза ценности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Подтверждённые требования помогут сократить ручной первичный отбор.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Проверка гипотезы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Измерим время до подходящего списка и принятие приглашений.</a:t>
            </a: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О РЕШЕНИИ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Маркетинговая суть решения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c45dc1bea6a44f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signal-heading">
            <a:extLst xmlns:a="http://schemas.openxmlformats.org/drawingml/2006/main">
              <a:ext uri="{FF2B5EF4-FFF2-40B4-BE49-F238E27FC236}">
                <a16:creationId xmlns:a16="http://schemas.microsoft.com/office/drawing/2014/main" id="{EA11E3F7-6F27-450C-A664-D0F8DD22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 МОДУЛЕЙ</a:t>
            </a:r>
          </a:p>
        </p:txBody>
      </p:sp>
      <p:sp>
        <p:nvSpPr>
          <p:cNvPr id="25" name="backend-heading">
            <a:extLst xmlns:a="http://schemas.openxmlformats.org/drawingml/2006/main">
              <a:ext uri="{FF2B5EF4-FFF2-40B4-BE49-F238E27FC236}">
                <a16:creationId xmlns:a16="http://schemas.microsoft.com/office/drawing/2014/main" id="{17EBF814-19A5-48F4-9175-8736DC77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47825"/>
            <a:ext cx="490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Backend</a:t>
            </a:r>
          </a:p>
        </p:txBody>
      </p:sp>
      <p:sp>
        <p:nvSpPr>
          <p:cNvPr id="26" name="backend-modules">
            <a:extLst xmlns:a="http://schemas.openxmlformats.org/drawingml/2006/main">
              <a:ext uri="{FF2B5EF4-FFF2-40B4-BE49-F238E27FC236}">
                <a16:creationId xmlns:a16="http://schemas.microsoft.com/office/drawing/2014/main" id="{C584CC29-6071-476A-A405-CF2A3D2A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49053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Python</a:t>
            </a:r>
          </a:p>
          <a:p xmlns:a="http://schemas.openxmlformats.org/drawingml/2006/main">
            <a:pPr algn="l">
              <a:defRPr sz="2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SQL</a:t>
            </a:r>
          </a:p>
          <a:p xmlns:a="http://schemas.openxmlformats.org/drawingml/2006/main">
            <a:pPr algn="l">
              <a:defRPr sz="2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Backend engineering</a:t>
            </a:r>
          </a:p>
        </p:txBody>
      </p:sp>
      <p:sp>
        <p:nvSpPr>
          <p:cNvPr id="27" name="frontend-heading">
            <a:extLst xmlns:a="http://schemas.openxmlformats.org/drawingml/2006/main">
              <a:ext uri="{FF2B5EF4-FFF2-40B4-BE49-F238E27FC236}">
                <a16:creationId xmlns:a16="http://schemas.microsoft.com/office/drawing/2014/main" id="{1599E5ED-A8C9-45A5-9982-F2E79F81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47825"/>
            <a:ext cx="490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Frontend</a:t>
            </a:r>
          </a:p>
        </p:txBody>
      </p:sp>
      <p:sp>
        <p:nvSpPr>
          <p:cNvPr id="28" name="frontend-modules">
            <a:extLst xmlns:a="http://schemas.openxmlformats.org/drawingml/2006/main">
              <a:ext uri="{FF2B5EF4-FFF2-40B4-BE49-F238E27FC236}">
                <a16:creationId xmlns:a16="http://schemas.microsoft.com/office/drawing/2014/main" id="{FE6A33DB-8187-46A2-8B97-AB47B866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9053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TypeScript</a:t>
            </a:r>
          </a:p>
          <a:p xmlns:a="http://schemas.openxmlformats.org/drawingml/2006/main">
            <a:pPr algn="l">
              <a:defRPr sz="2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React</a:t>
            </a:r>
          </a:p>
          <a:p xmlns:a="http://schemas.openxmlformats.org/drawingml/2006/main">
            <a:pPr algn="l">
              <a:defRPr sz="24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Frontend engineering</a:t>
            </a:r>
          </a:p>
        </p:txBody>
      </p:sp>
      <p:sp>
        <p:nvSpPr>
          <p:cNvPr id="29" name="levels">
            <a:extLst xmlns:a="http://schemas.openxmlformats.org/drawingml/2006/main">
              <a:ext uri="{FF2B5EF4-FFF2-40B4-BE49-F238E27FC236}">
                <a16:creationId xmlns:a16="http://schemas.microsoft.com/office/drawing/2014/main" id="{ECA93CB2-B144-4665-AA41-A5FAD735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Junior / Middle / Senior</a:t>
            </a:r>
          </a:p>
        </p:txBody>
      </p:sp>
      <p:sp>
        <p:nvSpPr>
          <p:cNvPr id="30" name="matrix">
            <a:extLst xmlns:a="http://schemas.openxmlformats.org/drawingml/2006/main">
              <a:ext uri="{FF2B5EF4-FFF2-40B4-BE49-F238E27FC236}">
                <a16:creationId xmlns:a16="http://schemas.microsoft.com/office/drawing/2014/main" id="{A720FF60-C39E-4CAC-867C-2FE3B109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Общая категория требует покрытия обязательной матрицы специализации. Уровень одного модуля не заменяет остальные.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ffd4b807a1a429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signal-heading">
            <a:extLst xmlns:a="http://schemas.openxmlformats.org/drawingml/2006/main">
              <a:ext uri="{FF2B5EF4-FFF2-40B4-BE49-F238E27FC236}">
                <a16:creationId xmlns:a16="http://schemas.microsoft.com/office/drawing/2014/main" id="{E245D02B-7DEB-4F36-B553-3A8D2769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ПАСПОРТ НАВЫКОВ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928A4-AB18-440F-B0E4-9E8E27E699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a558491af4014"/>
          <a:srcRect xmlns:a="http://schemas.openxmlformats.org/drawingml/2006/main" l="19722" t="19667" r="6667" b="25556"/>
          <a:stretch xmlns:a="http://schemas.openxmlformats.org/drawingml/2006/main"/>
        </p:blipFill>
        <p:spPr>
          <a:xfrm xmlns:a="http://schemas.openxmlformats.org/drawingml/2006/main">
            <a:off x="1662141" y="1428750"/>
            <a:ext cx="8867717" cy="4124325"/>
          </a:xfrm>
          <a:prstGeom xmlns:a="http://schemas.openxmlformats.org/drawingml/2006/main" prst="rect">
            <a:avLst/>
          </a:prstGeom>
        </p:spPr>
      </p:pic>
      <p:sp>
        <p:nvSpPr>
          <p:cNvPr id="24" name="caption-passport">
            <a:extLst xmlns:a="http://schemas.openxmlformats.org/drawingml/2006/main">
              <a:ext uri="{FF2B5EF4-FFF2-40B4-BE49-F238E27FC236}">
                <a16:creationId xmlns:a16="http://schemas.microsoft.com/office/drawing/2014/main" id="{68554D75-DDE0-4DFC-8C68-1D4012AB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Подтверждение связано с модулем и уровнем. Заявленные навыки видны отдельно. Данные показа синтетические.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de4c1a9f5f04c8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signal-heading">
            <a:extLst xmlns:a="http://schemas.openxmlformats.org/drawingml/2006/main">
              <a:ext uri="{FF2B5EF4-FFF2-40B4-BE49-F238E27FC236}">
                <a16:creationId xmlns:a16="http://schemas.microsoft.com/office/drawing/2014/main" id="{CD20FC95-226F-4C55-93D0-8B28D963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ОБРАТНЫЙ ПОДБОР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62F43-3006-4F69-823D-7CB0D91578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8058d26d54231"/>
          <a:srcRect xmlns:a="http://schemas.openxmlformats.org/drawingml/2006/main" l="19930" t="52536" r="7719" b="0"/>
          <a:stretch xmlns:a="http://schemas.openxmlformats.org/drawingml/2006/main"/>
        </p:blipFill>
        <p:spPr>
          <a:xfrm xmlns:a="http://schemas.openxmlformats.org/drawingml/2006/main">
            <a:off x="686103" y="1428750"/>
            <a:ext cx="10819794" cy="4124325"/>
          </a:xfrm>
          <a:prstGeom xmlns:a="http://schemas.openxmlformats.org/drawingml/2006/main" prst="rect">
            <a:avLst/>
          </a:prstGeom>
        </p:spPr>
      </p:pic>
      <p:sp>
        <p:nvSpPr>
          <p:cNvPr id="24" name="caption-selection">
            <a:extLst xmlns:a="http://schemas.openxmlformats.org/drawingml/2006/main">
              <a:ext uri="{FF2B5EF4-FFF2-40B4-BE49-F238E27FC236}">
                <a16:creationId xmlns:a16="http://schemas.microsoft.com/office/drawing/2014/main" id="{DB94B7CE-82F9-4E73-A768-A5B1A2A8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Обязательные навыки и условия определяют допуск целого резюме. Signal объясняет соответствие. Синтетический сценарий.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57aac087e45463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signal-heading">
            <a:extLst xmlns:a="http://schemas.openxmlformats.org/drawingml/2006/main">
              <a:ext uri="{FF2B5EF4-FFF2-40B4-BE49-F238E27FC236}">
                <a16:creationId xmlns:a16="http://schemas.microsoft.com/office/drawing/2014/main" id="{5BBEBCBB-DEA9-40B3-B484-AF122D35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СРАВНЕНИЕ ТОЧНЫХ CV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7B348-EEBE-418F-8A65-4C9B2C56E7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fcd71069b432f"/>
          <a:srcRect xmlns:a="http://schemas.openxmlformats.org/drawingml/2006/main" l="10694" t="26333" r="10417" b="26222"/>
          <a:stretch xmlns:a="http://schemas.openxmlformats.org/drawingml/2006/main"/>
        </p:blipFill>
        <p:spPr>
          <a:xfrm xmlns:a="http://schemas.openxmlformats.org/drawingml/2006/main">
            <a:off x="609778" y="1428750"/>
            <a:ext cx="10972443" cy="4124325"/>
          </a:xfrm>
          <a:prstGeom xmlns:a="http://schemas.openxmlformats.org/drawingml/2006/main" prst="rect">
            <a:avLst/>
          </a:prstGeom>
        </p:spPr>
      </p:pic>
      <p:sp>
        <p:nvSpPr>
          <p:cNvPr id="24" name="caption-resume">
            <a:extLst xmlns:a="http://schemas.openxmlformats.org/drawingml/2006/main">
              <a:ext uri="{FF2B5EF4-FFF2-40B4-BE49-F238E27FC236}">
                <a16:creationId xmlns:a16="http://schemas.microsoft.com/office/drawing/2014/main" id="{0098ED74-4018-4C23-A6CC-CBD4BA86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Навыки разных CV не объединяются. Отбор и приглашение сохраняют выбранный документ. Синтетический сценарий.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b31e965f8af40e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Заголовок 5">
            <a:extLst xmlns:a="http://schemas.openxmlformats.org/drawingml/2006/main"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33490" y="370426"/>
            <a:ext cx="5562510" cy="4423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521133" y="1695025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21133" y="2552035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521133" y="3409044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521133" y="4266053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521133" y="5123063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41475" y="6356350"/>
            <a:ext cx="558800" cy="365125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2" name="Прямая соединительная линия 1">
            <a:extLst xmlns:a="http://schemas.openxmlformats.org/drawingml/2006/main">
              <a:ext uri="{FF2B5EF4-FFF2-40B4-BE49-F238E27FC236}">
                <a16:creationId xmlns:a16="http://schemas.microsoft.com/office/drawing/2014/main" id="{2CC1C3FD-7A86-422C-8187-D9A7FBCB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1604660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302A9BBA-2D7E-433E-9C94-368000F7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2465535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Прямая соединительная линия 12">
            <a:extLst xmlns:a="http://schemas.openxmlformats.org/drawingml/2006/main">
              <a:ext uri="{FF2B5EF4-FFF2-40B4-BE49-F238E27FC236}">
                <a16:creationId xmlns:a16="http://schemas.microsoft.com/office/drawing/2014/main" id="{782B125A-9D06-40BA-90BE-D1672EA8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3342865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Прямая соединительная линия 13">
            <a:extLst xmlns:a="http://schemas.openxmlformats.org/drawingml/2006/main">
              <a:ext uri="{FF2B5EF4-FFF2-40B4-BE49-F238E27FC236}">
                <a16:creationId xmlns:a16="http://schemas.microsoft.com/office/drawing/2014/main" id="{60A556E2-9F9B-4BC1-9F03-B1565990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4183125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Прямая соединительная линия 14">
            <a:extLst xmlns:a="http://schemas.openxmlformats.org/drawingml/2006/main">
              <a:ext uri="{FF2B5EF4-FFF2-40B4-BE49-F238E27FC236}">
                <a16:creationId xmlns:a16="http://schemas.microsoft.com/office/drawing/2014/main" id="{8517D62C-C5B3-4E8C-B382-95745FC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5048098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signal-heading">
            <a:extLst xmlns:a="http://schemas.openxmlformats.org/drawingml/2006/main">
              <a:ext uri="{FF2B5EF4-FFF2-40B4-BE49-F238E27FC236}">
                <a16:creationId xmlns:a16="http://schemas.microsoft.com/office/drawing/2014/main" id="{E4AB83EB-17D8-4EB5-8389-A6FEAF71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97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997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997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ПРИВАТНОСТЬ И СОГЛАСИЯ</a:t>
            </a:r>
          </a:p>
        </p:txBody>
      </p:sp>
      <p:sp>
        <p:nvSpPr>
          <p:cNvPr id="23" name="access-label-0">
            <a:extLst xmlns:a="http://schemas.openxmlformats.org/drawingml/2006/main">
              <a:ext uri="{FF2B5EF4-FFF2-40B4-BE49-F238E27FC236}">
                <a16:creationId xmlns:a16="http://schemas.microsoft.com/office/drawing/2014/main" id="{363441B6-F568-4A20-BF6C-F95020C4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Каталог</a:t>
            </a:r>
          </a:p>
        </p:txBody>
      </p:sp>
      <p:sp>
        <p:nvSpPr>
          <p:cNvPr id="24" name="access-detail-0">
            <a:extLst xmlns:a="http://schemas.openxmlformats.org/drawingml/2006/main">
              <a:ext uri="{FF2B5EF4-FFF2-40B4-BE49-F238E27FC236}">
                <a16:creationId xmlns:a16="http://schemas.microsoft.com/office/drawing/2014/main" id="{CBC4B28B-97F2-47A9-9052-6EEDCA0B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62125"/>
            <a:ext cx="833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 разрешает публикацию резюме</a:t>
            </a:r>
          </a:p>
        </p:txBody>
      </p:sp>
      <p:sp>
        <p:nvSpPr>
          <p:cNvPr id="25" name="access-label-1">
            <a:extLst xmlns:a="http://schemas.openxmlformats.org/drawingml/2006/main">
              <a:ext uri="{FF2B5EF4-FFF2-40B4-BE49-F238E27FC236}">
                <a16:creationId xmlns:a16="http://schemas.microsoft.com/office/drawing/2014/main" id="{D1F8680A-A6DB-466F-BC0F-C2831EAC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Подбор</a:t>
            </a:r>
          </a:p>
        </p:txBody>
      </p:sp>
      <p:sp>
        <p:nvSpPr>
          <p:cNvPr id="26" name="access-detail-1">
            <a:extLst xmlns:a="http://schemas.openxmlformats.org/drawingml/2006/main">
              <a:ext uri="{FF2B5EF4-FFF2-40B4-BE49-F238E27FC236}">
                <a16:creationId xmlns:a16="http://schemas.microsoft.com/office/drawing/2014/main" id="{4B2F2524-C4D7-4924-9C01-163E4FAF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19375"/>
            <a:ext cx="833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Отдельное согласие на включение в подбор</a:t>
            </a:r>
          </a:p>
        </p:txBody>
      </p:sp>
      <p:sp>
        <p:nvSpPr>
          <p:cNvPr id="27" name="access-label-2">
            <a:extLst xmlns:a="http://schemas.openxmlformats.org/drawingml/2006/main">
              <a:ext uri="{FF2B5EF4-FFF2-40B4-BE49-F238E27FC236}">
                <a16:creationId xmlns:a16="http://schemas.microsoft.com/office/drawing/2014/main" id="{1C6EE021-E9FF-4501-B8B8-D844D74A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Имя</a:t>
            </a:r>
          </a:p>
        </p:txBody>
      </p:sp>
      <p:sp>
        <p:nvSpPr>
          <p:cNvPr id="28" name="access-detail-2">
            <a:extLst xmlns:a="http://schemas.openxmlformats.org/drawingml/2006/main">
              <a:ext uri="{FF2B5EF4-FFF2-40B4-BE49-F238E27FC236}">
                <a16:creationId xmlns:a16="http://schemas.microsoft.com/office/drawing/2014/main" id="{56F069B4-8523-4524-9D62-AA71D27E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833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Публичное имя и псевдоним имеют свои настройки</a:t>
            </a:r>
          </a:p>
        </p:txBody>
      </p:sp>
      <p:sp>
        <p:nvSpPr>
          <p:cNvPr id="29" name="access-label-3">
            <a:extLst xmlns:a="http://schemas.openxmlformats.org/drawingml/2006/main">
              <a:ext uri="{FF2B5EF4-FFF2-40B4-BE49-F238E27FC236}">
                <a16:creationId xmlns:a16="http://schemas.microsoft.com/office/drawing/2014/main" id="{AADF7C83-E6C5-406D-A6E6-6E156FFE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Контакты</a:t>
            </a:r>
          </a:p>
        </p:txBody>
      </p:sp>
      <p:sp>
        <p:nvSpPr>
          <p:cNvPr id="30" name="access-detail-3">
            <a:extLst xmlns:a="http://schemas.openxmlformats.org/drawingml/2006/main">
              <a:ext uri="{FF2B5EF4-FFF2-40B4-BE49-F238E27FC236}">
                <a16:creationId xmlns:a16="http://schemas.microsoft.com/office/drawing/2014/main" id="{F79FBC3F-2825-432A-AF2F-5AF39A17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33875"/>
            <a:ext cx="833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Адресный доступ после отклика или принятия приглашения</a:t>
            </a:r>
          </a:p>
        </p:txBody>
      </p:sp>
      <p:sp>
        <p:nvSpPr>
          <p:cNvPr id="31" name="access-label-4">
            <a:extLst xmlns:a="http://schemas.openxmlformats.org/drawingml/2006/main">
              <a:ext uri="{FF2B5EF4-FFF2-40B4-BE49-F238E27FC236}">
                <a16:creationId xmlns:a16="http://schemas.microsoft.com/office/drawing/2014/main" id="{96D4A059-D53A-4809-AFC1-FB82BAC8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Отзыв</a:t>
            </a:r>
          </a:p>
        </p:txBody>
      </p:sp>
      <p:sp>
        <p:nvSpPr>
          <p:cNvPr id="32" name="access-detail-4">
            <a:extLst xmlns:a="http://schemas.openxmlformats.org/drawingml/2006/main">
              <a:ext uri="{FF2B5EF4-FFF2-40B4-BE49-F238E27FC236}">
                <a16:creationId xmlns:a16="http://schemas.microsoft.com/office/drawing/2014/main" id="{326F7BE5-2F8F-4547-B903-E5F2FA0C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91125"/>
            <a:ext cx="833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Повторное чтение профиля и документов закрывает доступ</a:t>
            </a: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161452803494a8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signal-heading">
            <a:extLst xmlns:a="http://schemas.openxmlformats.org/drawingml/2006/main">
              <a:ext uri="{FF2B5EF4-FFF2-40B4-BE49-F238E27FC236}">
                <a16:creationId xmlns:a16="http://schemas.microsoft.com/office/drawing/2014/main" id="{2F8A0A0B-FD39-417D-8F93-5F2039EA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ВАКАНСИИ И ЗАПРОСЫ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8F36D-676C-4929-AA19-514E40A850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ac8c02347417a"/>
          <a:srcRect xmlns:a="http://schemas.openxmlformats.org/drawingml/2006/main" l="19792" t="20333" r="6944" b="36556"/>
          <a:stretch xmlns:a="http://schemas.openxmlformats.org/drawingml/2006/main"/>
        </p:blipFill>
        <p:spPr>
          <a:xfrm xmlns:a="http://schemas.openxmlformats.org/drawingml/2006/main">
            <a:off x="495300" y="1431129"/>
            <a:ext cx="11201400" cy="4119567"/>
          </a:xfrm>
          <a:prstGeom xmlns:a="http://schemas.openxmlformats.org/drawingml/2006/main" prst="rect">
            <a:avLst/>
          </a:prstGeom>
        </p:spPr>
      </p:pic>
      <p:sp>
        <p:nvSpPr>
          <p:cNvPr id="24" name="caption-jobs">
            <a:extLst xmlns:a="http://schemas.openxmlformats.org/drawingml/2006/main">
              <a:ext uri="{FF2B5EF4-FFF2-40B4-BE49-F238E27FC236}">
                <a16:creationId xmlns:a16="http://schemas.microsoft.com/office/drawing/2014/main" id="{977452F8-1226-4DE6-BBA2-CFFC4818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Публичная вакансия и приватный запрос используют единый подбор. Отклики остаются отдельным каналом. Синтетический сценарий.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49793030778422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signal-heading">
            <a:extLst xmlns:a="http://schemas.openxmlformats.org/drawingml/2006/main">
              <a:ext uri="{FF2B5EF4-FFF2-40B4-BE49-F238E27FC236}">
                <a16:creationId xmlns:a16="http://schemas.microsoft.com/office/drawing/2014/main" id="{BFD9D54D-0396-458C-A434-1FA99157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97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ЗАДАНИЯ КАНДИДАТАМ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1D1E4C-6326-48E7-9D5E-E75F4C4FC6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3d4574d6e4448"/>
          <a:srcRect xmlns:a="http://schemas.openxmlformats.org/drawingml/2006/main" l="22105" t="32778" r="7719" b="5000"/>
          <a:stretch xmlns:a="http://schemas.openxmlformats.org/drawingml/2006/main"/>
        </p:blipFill>
        <p:spPr>
          <a:xfrm xmlns:a="http://schemas.openxmlformats.org/drawingml/2006/main">
            <a:off x="2413567" y="1428750"/>
            <a:ext cx="7364866" cy="4124325"/>
          </a:xfrm>
          <a:prstGeom xmlns:a="http://schemas.openxmlformats.org/drawingml/2006/main" prst="rect">
            <a:avLst/>
          </a:prstGeom>
        </p:spPr>
      </p:pic>
      <p:sp>
        <p:nvSpPr>
          <p:cNvPr id="24" name="caption-task">
            <a:extLst xmlns:a="http://schemas.openxmlformats.org/drawingml/2006/main">
              <a:ext uri="{FF2B5EF4-FFF2-40B4-BE49-F238E27FC236}">
                <a16:creationId xmlns:a16="http://schemas.microsoft.com/office/drawing/2014/main" id="{EE90CAA7-B39C-4C0C-BD22-1E76FCB2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83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Ответ связан с точным резюме и сохранёнными условиями. Оценка практики не меняет грейд Signal. Синтетический сценарий.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20b178a3d5e416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0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React / TypeScript / Vite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Интерфейс кандидата и работодателя.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Express / PostgreSQL / Drizzle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API, транзакции и проверка прав на сервере.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Версии и история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Конфликт версии защищает редактор. Условия приглашений и проверок сохраняются.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0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Независимая приёмка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Кабинет работодателя E01–E16 прошёл проверку.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Проверки поставки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582 теста, типизация и сборка UI/API.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Следующий этап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Человеческий пилот и реестр ФСП ещё впереди. Задержки подбора требуют оптимизации.</a:t>
            </a: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Архитектура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Границы готовности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b312d011922449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56363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 xmlns:a="http://schemas.openxmlformats.org/drawingml/2006/main"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21133" y="1263123"/>
            <a:ext cx="5574868" cy="493765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sp>
        <p:nvSpPr>
          <p:cNvPr id="28" name="Заголовок 27">
            <a:extLst xmlns:a="http://schemas.openxmlformats.org/drawingml/2006/main"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527444" y="395288"/>
            <a:ext cx="5574868" cy="42572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solidFill>
                <a:schemeClr val="accent5"/>
              </a:solidFill>
            </a:endParaRPr>
          </a:p>
        </p:txBody>
      </p:sp>
      <p:sp>
        <p:nvSpPr>
          <p:cNvPr id="31" name="pilot-title">
            <a:extLst xmlns:a="http://schemas.openxmlformats.org/drawingml/2006/main">
              <a:ext uri="{FF2B5EF4-FFF2-40B4-BE49-F238E27FC236}">
                <a16:creationId xmlns:a16="http://schemas.microsoft.com/office/drawing/2014/main" id="{D951521E-3F6C-463E-AC33-6FB03FFB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СЛЕДУЮЩИЙ ПИЛОТ</a:t>
            </a:r>
          </a:p>
        </p:txBody>
      </p:sp>
      <p:sp>
        <p:nvSpPr>
          <p:cNvPr id="32" name="pilot-body">
            <a:extLst xmlns:a="http://schemas.openxmlformats.org/drawingml/2006/main">
              <a:ext uri="{FF2B5EF4-FFF2-40B4-BE49-F238E27FC236}">
                <a16:creationId xmlns:a16="http://schemas.microsoft.com/office/drawing/2014/main" id="{3CBF6B16-2E56-4866-B5B4-24A26397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523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Экспертная проверка программ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Пилот с кандидатами и работодателями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Соглашение по реестру ФСП и настройка рабочей почты</a:t>
            </a:r>
          </a:p>
        </p:txBody>
      </p:sp>
      <p:sp>
        <p:nvSpPr>
          <p:cNvPr id="33" name="pilot-measure">
            <a:extLst xmlns:a="http://schemas.openxmlformats.org/drawingml/2006/main">
              <a:ext uri="{FF2B5EF4-FFF2-40B4-BE49-F238E27FC236}">
                <a16:creationId xmlns:a16="http://schemas.microsoft.com/office/drawing/2014/main" id="{ADF4EDCA-911F-4A43-A7E5-81503F63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14925"/>
            <a:ext cx="5238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Измерим время до подходящего списка и долю принятых приглашений.</a:t>
            </a: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2026-10-08T23:00:49.8330000Z</dcterms:created>
  <dcterms:modified xsi:type="dcterms:W3CDTF">2026-10-08T23:00:49.8330000Z</dcterms:modified>
</coreProperties>
</file>